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778200" cy="43180000"/>
  <p:notesSz cx="6858000" cy="9144000"/>
  <p:embeddedFontLst>
    <p:embeddedFont>
      <p:font typeface="Open Sans" panose="020B0606030504020204" pitchFamily="34" charset="0"/>
      <p:regular r:id="rId3"/>
      <p:bold r:id="rId4"/>
    </p:embeddedFont>
    <p:embeddedFont>
      <p:font typeface="Open Sans Bold" panose="020B0806030504020204" pitchFamily="34" charset="0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7" d="100"/>
          <a:sy n="17" d="100"/>
        </p:scale>
        <p:origin x="3282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hyperlink" Target="https://www.google.com/url?sa=E&amp;q=https%3A%2F%2Flearn.microsoft.com%2Fdotnet%2F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hyperlink" Target="https://www.google.com/url?sa=E&amp;q=https%3A%2F%2Fgithub.com%2Ffecaphub%2FTemplate_PI" TargetMode="External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20" Type="http://schemas.openxmlformats.org/officeDocument/2006/relationships/hyperlink" Target="https://www.google.com/url?sa=E&amp;q=http%3A%2F%2Fpix4free.org%2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hyperlink" Target="https://www.google.com/url?sa=E&amp;q=https%3A%2F%2Fwww.toptal.com%2Fdevelopers%2Fgitignore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25" y="36273038"/>
            <a:ext cx="29324846" cy="6968080"/>
          </a:xfrm>
          <a:custGeom>
            <a:avLst/>
            <a:gdLst/>
            <a:ahLst/>
            <a:cxnLst/>
            <a:rect l="l" t="t" r="r" b="b"/>
            <a:pathLst>
              <a:path w="29324846" h="6968080">
                <a:moveTo>
                  <a:pt x="0" y="0"/>
                </a:moveTo>
                <a:lnTo>
                  <a:pt x="29324847" y="0"/>
                </a:lnTo>
                <a:lnTo>
                  <a:pt x="29324847" y="6968081"/>
                </a:lnTo>
                <a:lnTo>
                  <a:pt x="0" y="69680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3163233" y="34829696"/>
            <a:ext cx="22769151" cy="14311008"/>
            <a:chOff x="0" y="0"/>
            <a:chExt cx="30358867" cy="190813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358842" cy="19081369"/>
            </a:xfrm>
            <a:custGeom>
              <a:avLst/>
              <a:gdLst/>
              <a:ahLst/>
              <a:cxnLst/>
              <a:rect l="l" t="t" r="r" b="b"/>
              <a:pathLst>
                <a:path w="30358842" h="19081369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538" b="-245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Freeform 5"/>
          <p:cNvSpPr/>
          <p:nvPr/>
        </p:nvSpPr>
        <p:spPr>
          <a:xfrm>
            <a:off x="-234725" y="28800362"/>
            <a:ext cx="29304072" cy="9759744"/>
          </a:xfrm>
          <a:custGeom>
            <a:avLst/>
            <a:gdLst/>
            <a:ahLst/>
            <a:cxnLst/>
            <a:rect l="l" t="t" r="r" b="b"/>
            <a:pathLst>
              <a:path w="29304072" h="9759744">
                <a:moveTo>
                  <a:pt x="0" y="0"/>
                </a:moveTo>
                <a:lnTo>
                  <a:pt x="29304073" y="0"/>
                </a:lnTo>
                <a:lnTo>
                  <a:pt x="29304073" y="9759743"/>
                </a:lnTo>
                <a:lnTo>
                  <a:pt x="0" y="9759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-234715" y="21010293"/>
            <a:ext cx="29324846" cy="9460535"/>
          </a:xfrm>
          <a:custGeom>
            <a:avLst/>
            <a:gdLst/>
            <a:ahLst/>
            <a:cxnLst/>
            <a:rect l="l" t="t" r="r" b="b"/>
            <a:pathLst>
              <a:path w="29324846" h="9460535">
                <a:moveTo>
                  <a:pt x="0" y="0"/>
                </a:moveTo>
                <a:lnTo>
                  <a:pt x="29324846" y="0"/>
                </a:lnTo>
                <a:lnTo>
                  <a:pt x="29324846" y="9460534"/>
                </a:lnTo>
                <a:lnTo>
                  <a:pt x="0" y="9460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-234725" y="15561374"/>
            <a:ext cx="29304072" cy="8372961"/>
          </a:xfrm>
          <a:custGeom>
            <a:avLst/>
            <a:gdLst/>
            <a:ahLst/>
            <a:cxnLst/>
            <a:rect l="l" t="t" r="r" b="b"/>
            <a:pathLst>
              <a:path w="29304072" h="8372961">
                <a:moveTo>
                  <a:pt x="0" y="0"/>
                </a:moveTo>
                <a:lnTo>
                  <a:pt x="29304073" y="0"/>
                </a:lnTo>
                <a:lnTo>
                  <a:pt x="29304073" y="8372960"/>
                </a:lnTo>
                <a:lnTo>
                  <a:pt x="0" y="8372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-234715" y="6816147"/>
            <a:ext cx="29304072" cy="9226115"/>
          </a:xfrm>
          <a:custGeom>
            <a:avLst/>
            <a:gdLst/>
            <a:ahLst/>
            <a:cxnLst/>
            <a:rect l="l" t="t" r="r" b="b"/>
            <a:pathLst>
              <a:path w="29304072" h="9226115">
                <a:moveTo>
                  <a:pt x="0" y="0"/>
                </a:moveTo>
                <a:lnTo>
                  <a:pt x="29304072" y="0"/>
                </a:lnTo>
                <a:lnTo>
                  <a:pt x="29304072" y="9226115"/>
                </a:lnTo>
                <a:lnTo>
                  <a:pt x="0" y="9226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-234715" y="-573881"/>
            <a:ext cx="29324837" cy="9050017"/>
          </a:xfrm>
          <a:custGeom>
            <a:avLst/>
            <a:gdLst/>
            <a:ahLst/>
            <a:cxnLst/>
            <a:rect l="l" t="t" r="r" b="b"/>
            <a:pathLst>
              <a:path w="29324837" h="9050017">
                <a:moveTo>
                  <a:pt x="0" y="0"/>
                </a:moveTo>
                <a:lnTo>
                  <a:pt x="29324837" y="0"/>
                </a:lnTo>
                <a:lnTo>
                  <a:pt x="29324837" y="9050017"/>
                </a:lnTo>
                <a:lnTo>
                  <a:pt x="0" y="9050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5005710" y="9133361"/>
            <a:ext cx="13014602" cy="17976445"/>
          </a:xfrm>
          <a:custGeom>
            <a:avLst/>
            <a:gdLst/>
            <a:ahLst/>
            <a:cxnLst/>
            <a:rect l="l" t="t" r="r" b="b"/>
            <a:pathLst>
              <a:path w="13014602" h="17976445">
                <a:moveTo>
                  <a:pt x="0" y="0"/>
                </a:moveTo>
                <a:lnTo>
                  <a:pt x="13014602" y="0"/>
                </a:lnTo>
                <a:lnTo>
                  <a:pt x="13014602" y="17976445"/>
                </a:lnTo>
                <a:lnTo>
                  <a:pt x="0" y="17976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928" b="-1496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748255" y="29219174"/>
            <a:ext cx="14066055" cy="8953514"/>
          </a:xfrm>
          <a:custGeom>
            <a:avLst/>
            <a:gdLst/>
            <a:ahLst/>
            <a:cxnLst/>
            <a:rect l="l" t="t" r="r" b="b"/>
            <a:pathLst>
              <a:path w="14066055" h="8953514">
                <a:moveTo>
                  <a:pt x="0" y="0"/>
                </a:moveTo>
                <a:lnTo>
                  <a:pt x="14066055" y="0"/>
                </a:lnTo>
                <a:lnTo>
                  <a:pt x="14066055" y="8953514"/>
                </a:lnTo>
                <a:lnTo>
                  <a:pt x="0" y="89535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880" b="-530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Freeform 12"/>
          <p:cNvSpPr/>
          <p:nvPr/>
        </p:nvSpPr>
        <p:spPr>
          <a:xfrm>
            <a:off x="15194769" y="27365621"/>
            <a:ext cx="12749537" cy="11006122"/>
          </a:xfrm>
          <a:custGeom>
            <a:avLst/>
            <a:gdLst/>
            <a:ahLst/>
            <a:cxnLst/>
            <a:rect l="l" t="t" r="r" b="b"/>
            <a:pathLst>
              <a:path w="12749537" h="11006122">
                <a:moveTo>
                  <a:pt x="0" y="0"/>
                </a:moveTo>
                <a:lnTo>
                  <a:pt x="12749537" y="0"/>
                </a:lnTo>
                <a:lnTo>
                  <a:pt x="12749537" y="11006122"/>
                </a:lnTo>
                <a:lnTo>
                  <a:pt x="0" y="11006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2516" r="-39712" b="-212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16770087" y="27843231"/>
            <a:ext cx="9484062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REFERÊNCIAS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16543" y="1525353"/>
            <a:ext cx="8571186" cy="2454221"/>
            <a:chOff x="0" y="0"/>
            <a:chExt cx="11428247" cy="32722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28222" cy="3272282"/>
            </a:xfrm>
            <a:custGeom>
              <a:avLst/>
              <a:gdLst/>
              <a:ahLst/>
              <a:cxnLst/>
              <a:rect l="l" t="t" r="r" b="b"/>
              <a:pathLst>
                <a:path w="11428222" h="3272282">
                  <a:moveTo>
                    <a:pt x="0" y="0"/>
                  </a:moveTo>
                  <a:lnTo>
                    <a:pt x="11428222" y="0"/>
                  </a:lnTo>
                  <a:lnTo>
                    <a:pt x="11428222" y="3272282"/>
                  </a:lnTo>
                  <a:lnTo>
                    <a:pt x="0" y="3272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163233" y="-4997463"/>
            <a:ext cx="22769151" cy="14311008"/>
            <a:chOff x="0" y="0"/>
            <a:chExt cx="30358867" cy="190813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358842" cy="19081369"/>
            </a:xfrm>
            <a:custGeom>
              <a:avLst/>
              <a:gdLst/>
              <a:ahLst/>
              <a:cxnLst/>
              <a:rect l="l" t="t" r="r" b="b"/>
              <a:pathLst>
                <a:path w="30358842" h="19081369">
                  <a:moveTo>
                    <a:pt x="0" y="0"/>
                  </a:moveTo>
                  <a:lnTo>
                    <a:pt x="30358842" y="0"/>
                  </a:lnTo>
                  <a:lnTo>
                    <a:pt x="30358842" y="19081369"/>
                  </a:lnTo>
                  <a:lnTo>
                    <a:pt x="0" y="19081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538" b="-2453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1014303" y="1712014"/>
            <a:ext cx="7228389" cy="2335063"/>
            <a:chOff x="0" y="0"/>
            <a:chExt cx="9637852" cy="31134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637903" cy="3113405"/>
            </a:xfrm>
            <a:custGeom>
              <a:avLst/>
              <a:gdLst/>
              <a:ahLst/>
              <a:cxnLst/>
              <a:rect l="l" t="t" r="r" b="b"/>
              <a:pathLst>
                <a:path w="9637903" h="3113405">
                  <a:moveTo>
                    <a:pt x="0" y="0"/>
                  </a:moveTo>
                  <a:lnTo>
                    <a:pt x="9637903" y="0"/>
                  </a:lnTo>
                  <a:lnTo>
                    <a:pt x="9637903" y="3113405"/>
                  </a:lnTo>
                  <a:lnTo>
                    <a:pt x="0" y="311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65" b="-16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432060" y="12185599"/>
            <a:ext cx="4989814" cy="57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5"/>
              </a:lnSpc>
            </a:pPr>
            <a:r>
              <a:rPr lang="en-US" sz="5077" b="1" spc="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id="21" name="Freeform 21"/>
          <p:cNvSpPr/>
          <p:nvPr/>
        </p:nvSpPr>
        <p:spPr>
          <a:xfrm>
            <a:off x="748255" y="9313545"/>
            <a:ext cx="14051137" cy="7903765"/>
          </a:xfrm>
          <a:custGeom>
            <a:avLst/>
            <a:gdLst/>
            <a:ahLst/>
            <a:cxnLst/>
            <a:rect l="l" t="t" r="r" b="b"/>
            <a:pathLst>
              <a:path w="14051137" h="7903765">
                <a:moveTo>
                  <a:pt x="0" y="0"/>
                </a:moveTo>
                <a:lnTo>
                  <a:pt x="14051138" y="0"/>
                </a:lnTo>
                <a:lnTo>
                  <a:pt x="14051138" y="7903765"/>
                </a:lnTo>
                <a:lnTo>
                  <a:pt x="0" y="7903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43495" t="-62921" r="-37565" b="-6885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2" name="Freeform 22"/>
          <p:cNvSpPr/>
          <p:nvPr/>
        </p:nvSpPr>
        <p:spPr>
          <a:xfrm>
            <a:off x="343187" y="17430982"/>
            <a:ext cx="14471123" cy="11745936"/>
          </a:xfrm>
          <a:custGeom>
            <a:avLst/>
            <a:gdLst/>
            <a:ahLst/>
            <a:cxnLst/>
            <a:rect l="l" t="t" r="r" b="b"/>
            <a:pathLst>
              <a:path w="14471123" h="11745936">
                <a:moveTo>
                  <a:pt x="0" y="0"/>
                </a:moveTo>
                <a:lnTo>
                  <a:pt x="14471123" y="0"/>
                </a:lnTo>
                <a:lnTo>
                  <a:pt x="14471123" y="11745936"/>
                </a:lnTo>
                <a:lnTo>
                  <a:pt x="0" y="11745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376" r="-20142" b="-4418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3" name="Group 23"/>
          <p:cNvGrpSpPr/>
          <p:nvPr/>
        </p:nvGrpSpPr>
        <p:grpSpPr>
          <a:xfrm>
            <a:off x="22527254" y="36801438"/>
            <a:ext cx="5609092" cy="5642286"/>
            <a:chOff x="0" y="0"/>
            <a:chExt cx="7478789" cy="75230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478776" cy="7523099"/>
            </a:xfrm>
            <a:custGeom>
              <a:avLst/>
              <a:gdLst/>
              <a:ahLst/>
              <a:cxnLst/>
              <a:rect l="l" t="t" r="r" b="b"/>
              <a:pathLst>
                <a:path w="7478776" h="7523099">
                  <a:moveTo>
                    <a:pt x="0" y="0"/>
                  </a:moveTo>
                  <a:lnTo>
                    <a:pt x="7478776" y="0"/>
                  </a:lnTo>
                  <a:lnTo>
                    <a:pt x="7478776" y="7523099"/>
                  </a:lnTo>
                  <a:lnTo>
                    <a:pt x="0" y="7523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49" r="-49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93341" y="4890668"/>
            <a:ext cx="26601688" cy="1440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2"/>
              </a:lnSpc>
            </a:pPr>
            <a:r>
              <a:rPr lang="en-US" sz="10734" b="1" spc="40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MESSIER DATA &amp; CRIATIVE 4​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255" y="6260335"/>
            <a:ext cx="28036295" cy="1650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6"/>
              </a:lnSpc>
            </a:pP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Italo de Andrade Goes, Luiz Felipe Marques Gomes, Stephany Felix, Yohann Correia Cury</a:t>
            </a:r>
          </a:p>
          <a:p>
            <a:pPr algn="ctr">
              <a:lnSpc>
                <a:spcPts val="6667"/>
              </a:lnSpc>
            </a:pPr>
            <a:r>
              <a:rPr lang="en-US" sz="476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Professores: </a:t>
            </a:r>
            <a:r>
              <a:rPr lang="en-US" sz="476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Francisco Escobar, Katia Bossi, Renata Muniz, Robson Cardoso, Victor Barq</a:t>
            </a:r>
            <a:r>
              <a:rPr lang="en-US" sz="476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44302" y="30019274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08352" y="9934299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RESULTADOS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44302" y="9934299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61449" y="18674635"/>
            <a:ext cx="10186387" cy="54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4761" b="1" spc="17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PROPOSTA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553774" y="28475519"/>
            <a:ext cx="11918472" cy="1034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FECAP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Template_PI. GitHub, 2026. Disponível em: </a:t>
            </a:r>
            <a:r>
              <a:rPr lang="en-US" sz="342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7" tooltip="https://www.google.com/url?sa=E&amp;q=https%3A%2F%2Fgithub.com%2Ffecaphub%2FTemplate_PI"/>
              </a:rPr>
              <a:t>https://github.com/fecaphub/Template_PI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04 mai. 2026.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01"/>
              </a:lnSpc>
            </a:pPr>
            <a:r>
              <a:rPr lang="en-US" sz="342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MICROSOFT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Documentação do .NET. Disponível em: </a:t>
            </a:r>
            <a:r>
              <a:rPr lang="en-US" sz="342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8" tooltip="https://www.google.com/url?sa=E&amp;q=https%3A%2F%2Flearn.microsoft.com%2Fdotnet%2F"/>
              </a:rPr>
              <a:t>https://learn.microsoft.com/dotnet/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04 mai. 2026. (Informação externa ao material, mas recomendada para a base tecnológica do projeto).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01"/>
              </a:lnSpc>
            </a:pPr>
            <a:r>
              <a:rPr lang="en-US" sz="342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TOPTAL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gitignore.io. Disponível em: </a:t>
            </a:r>
            <a:r>
              <a:rPr lang="en-US" sz="342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9" tooltip="https://www.google.com/url?sa=E&amp;q=https%3A%2F%2Fwww.toptal.com%2Fdevelopers%2Fgitignore"/>
              </a:rPr>
              <a:t>https://www.toptal.com/developers/gitignore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04 mai. 2026.</a:t>
            </a:r>
          </a:p>
          <a:p>
            <a:pPr algn="just">
              <a:lnSpc>
                <a:spcPts val="4801"/>
              </a:lnSpc>
            </a:pPr>
            <a:endParaRPr lang="en-US" sz="34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01"/>
              </a:lnSpc>
            </a:pPr>
            <a:r>
              <a:rPr lang="en-US" sz="342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YOUNGSON, Nick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Game. Pix4free, [s.d.]. Disponível em: </a:t>
            </a:r>
            <a:r>
              <a:rPr lang="en-US" sz="342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0" tooltip="https://www.google.com/url?sa=E&amp;q=http%3A%2F%2Fpix4free.org%2F"/>
              </a:rPr>
              <a:t>http://pix4free.org/</a:t>
            </a:r>
            <a:r>
              <a:rPr lang="en-US" sz="34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Acesso em: 04 mai. 2026. Licença CC BY-SA 3.0.</a:t>
            </a:r>
          </a:p>
          <a:p>
            <a:pPr algn="just">
              <a:lnSpc>
                <a:spcPts val="4802"/>
              </a:lnSpc>
            </a:pPr>
            <a:endParaRPr lang="en-US" sz="342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9389" y="31429184"/>
            <a:ext cx="13228420" cy="554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O sistema foi desenvolvido em C# (.NET) com banco de dados SQLite, priorizando uma arquitetura desktop modular, segura e funcional em ambiente offline.</a:t>
            </a:r>
          </a:p>
          <a:p>
            <a:pPr algn="just">
              <a:lnSpc>
                <a:spcPts val="4885"/>
              </a:lnSpc>
            </a:pPr>
            <a:endParaRPr lang="en-US" sz="34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3490" lvl="1" indent="-376745" algn="just">
              <a:lnSpc>
                <a:spcPts val="4885"/>
              </a:lnSpc>
              <a:buFont typeface="Arial"/>
              <a:buChar char="•"/>
            </a:pPr>
            <a:r>
              <a:rPr lang="en-US" sz="34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Linguagem</a:t>
            </a:r>
            <a:r>
              <a:rPr lang="en-US" sz="34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C# (.NET).</a:t>
            </a:r>
          </a:p>
          <a:p>
            <a:pPr marL="753490" lvl="1" indent="-376745" algn="just">
              <a:lnSpc>
                <a:spcPts val="4885"/>
              </a:lnSpc>
              <a:buFont typeface="Arial"/>
              <a:buChar char="•"/>
            </a:pPr>
            <a:r>
              <a:rPr lang="en-US" sz="34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Interface</a:t>
            </a:r>
            <a:r>
              <a:rPr lang="en-US" sz="34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WinForms e Godot.</a:t>
            </a:r>
          </a:p>
          <a:p>
            <a:pPr marL="753490" lvl="1" indent="-376745" algn="just">
              <a:lnSpc>
                <a:spcPts val="4885"/>
              </a:lnSpc>
              <a:buFont typeface="Arial"/>
              <a:buChar char="•"/>
            </a:pPr>
            <a:r>
              <a:rPr lang="en-US" sz="34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Banco de Dados</a:t>
            </a:r>
            <a:r>
              <a:rPr lang="en-US" sz="34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SQLite e ADO.NET.</a:t>
            </a:r>
          </a:p>
          <a:p>
            <a:pPr marL="753490" lvl="1" indent="-376745" algn="just">
              <a:lnSpc>
                <a:spcPts val="4885"/>
              </a:lnSpc>
              <a:buFont typeface="Arial"/>
              <a:buChar char="•"/>
            </a:pPr>
            <a:r>
              <a:rPr lang="en-US" sz="348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Gestão e Design</a:t>
            </a:r>
            <a:r>
              <a:rPr lang="en-US" sz="34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Git, GitHub, Figma e StarUML</a:t>
            </a:r>
          </a:p>
          <a:p>
            <a:pPr marL="797841" lvl="2" indent="-265947" algn="just">
              <a:lnSpc>
                <a:spcPts val="4885"/>
              </a:lnSpc>
            </a:pPr>
            <a:endParaRPr lang="en-US" sz="348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19389" y="10963208"/>
            <a:ext cx="13142935" cy="554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83"/>
              </a:lnSpc>
            </a:pP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O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aborda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lacuna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tecnológica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assinaturas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 Messier. O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central é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fragmentação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regras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negócio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onde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controle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pacotes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ativos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autorização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redes (IPs) e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contabilização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logs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possuem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interface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integrada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algn="just">
              <a:lnSpc>
                <a:spcPts val="4883"/>
              </a:lnSpc>
            </a:pPr>
            <a:endParaRPr lang="en-US" sz="3488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83"/>
              </a:lnSpc>
            </a:pP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Isso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operação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manual 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suscetível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erros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dificultando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conformidade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as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regras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geração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precisos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as </a:t>
            </a:r>
            <a:r>
              <a:rPr lang="en-US" sz="348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instituições</a:t>
            </a:r>
            <a:r>
              <a:rPr lang="en-US" sz="348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9389" y="19563192"/>
            <a:ext cx="13072886" cy="920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1"/>
              </a:lnSpc>
            </a:pPr>
            <a:r>
              <a:rPr lang="en-US" sz="34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A proposta consiste no desenvolvimento de uma aplicação desktop robusta integrada a um banco de dados relacional (SQLite), projetada para centralizar a operação da Messier Data &amp; Creative. </a:t>
            </a:r>
          </a:p>
          <a:p>
            <a:pPr algn="just">
              <a:lnSpc>
                <a:spcPts val="4851"/>
              </a:lnSpc>
            </a:pPr>
            <a:endParaRPr lang="en-US" sz="3465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51"/>
              </a:lnSpc>
            </a:pPr>
            <a:r>
              <a:rPr lang="en-US" sz="34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O sistema permite o gerenciamento completo do ciclo de vida das assinaturas, desde o cadastro de instituições e catálogos de jogos até o monitoramento em tempo real do consumo. </a:t>
            </a:r>
          </a:p>
          <a:p>
            <a:pPr algn="just">
              <a:lnSpc>
                <a:spcPts val="4851"/>
              </a:lnSpc>
            </a:pPr>
            <a:endParaRPr lang="en-US" sz="3465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851"/>
              </a:lnSpc>
            </a:pPr>
            <a:r>
              <a:rPr lang="en-US" sz="34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A solução diferencia-se pela implementação de camadas de segurança multicritério, validando o acesso por meio de endereços IP autorizados e aplicando regras lógicas rigorosas para garantir que os limites contratuais de cada escola sejam respeitados, assegurando a viabilidade financeira e técnica do modelo de negócio.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931" y="39577061"/>
            <a:ext cx="28242692" cy="1817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6"/>
              </a:lnSpc>
            </a:pPr>
            <a:r>
              <a:rPr lang="en-US" sz="49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SEMANA DE TECNOLOGIA - 2026</a:t>
            </a:r>
          </a:p>
          <a:p>
            <a:pPr algn="ctr">
              <a:lnSpc>
                <a:spcPts val="6936"/>
              </a:lnSpc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553774" y="11067983"/>
            <a:ext cx="11918472" cy="1591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91"/>
              </a:lnSpc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Até o momento, o projeto concluiu com sucesso a primeira fase de desenvolvimento, consolidando a arquitetura de dados e validando a lógica de segurança essencial para o controle de acessos.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85229" lvl="1" indent="-392615" algn="just">
              <a:lnSpc>
                <a:spcPts val="5091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Modelagem de Dados: Finalização do Diagrama Entidade-Relacionamento (DER) para organização de escolas, pacotes e jogos.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85229" lvl="1" indent="-392615" algn="just">
              <a:lnSpc>
                <a:spcPts val="5091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Validação de Segurança: Implementação de um protótipo funcional em C# para verificação e bloqueio de endereços IP.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85229" lvl="1" indent="-392615" algn="just">
              <a:lnSpc>
                <a:spcPts val="5091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Lógica Formalizada: Aplicação de Lógica Proposicional para definir rigorosamente as regras de permissão de acesso ao sistema.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85229" lvl="1" indent="-392615" algn="just">
              <a:lnSpc>
                <a:spcPts val="5091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Escopo de Software: Documentação completa de 6 requisitos funcionais e 6 não funcionais que norteiam a solução.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85229" lvl="1" indent="-392615" algn="just">
              <a:lnSpc>
                <a:spcPts val="5091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Infraestrutura de Código: Estruturação inicial da aplicação e repositório GitHub consolidado com 79 commits registrados</a:t>
            </a:r>
          </a:p>
          <a:p>
            <a:pPr algn="just">
              <a:lnSpc>
                <a:spcPts val="5091"/>
              </a:lnSpc>
            </a:pPr>
            <a:endParaRPr lang="en-US" sz="3637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591</Words>
  <Application>Microsoft Office PowerPoint</Application>
  <PresentationFormat>Personalizar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Calibri</vt:lpstr>
      <vt:lpstr>Open Sans Bold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MODELO_POSTER_FECAP_2026_1.pptx</dc:title>
  <cp:lastModifiedBy>Luiz Felipe  Marques Gomes</cp:lastModifiedBy>
  <cp:revision>2</cp:revision>
  <dcterms:created xsi:type="dcterms:W3CDTF">2006-08-16T00:00:00Z</dcterms:created>
  <dcterms:modified xsi:type="dcterms:W3CDTF">2026-05-04T20:53:14Z</dcterms:modified>
  <dc:identifier>DAHIt0U70yg</dc:identifier>
</cp:coreProperties>
</file>